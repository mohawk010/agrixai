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77272" y="137160"/>
            <a:ext cx="1828800" cy="100584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77272" y="472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[ SRM Logo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SRM INSTITUTE OF SCIENCE AND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DEPARTMENT OF COMPUTER SCIENCE AND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143000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AgriXAI: Plant Disease Classification
Using Deep Learning &amp; Explainable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017520"/>
            <a:ext cx="2194560" cy="146304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505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[ Plant / Leaf Image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Guide Name: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Dr. / Mr. [Guide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46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Designation: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Assistant Professor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Department: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Computer Science &amp;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Batch ID: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[Batch ID]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Reg. No: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[Registration Number]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Name: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526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[Student Name]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Major Project Review-II  |  16th March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Background: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28016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Rapid rise in global food insecurity due to undetected plant diseases.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385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Problem: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938528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Farmers lack affordable, fast, scalable disease diagnosis tools.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22576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968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Motivation: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596896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Need for an accurate, explainable AI system to aid precision agriculture.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80944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552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Domain: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25526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Agricultural AI, Computer Vision &amp; Explainable AI (XAI).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39312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• Farmers visually diagnose diseases — slow, error-prone, expertise-dependent.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• Most deep learning systems are opaque 'black boxes' with no interpretability.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• High accuracy alone insufficient for trust in high-stakes agricultural decisions.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• Lack of accessible tools combining classification + visual reasoning for field use.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280160"/>
            <a:ext cx="3474720" cy="41148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651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[ Problem Illustration
(e.g. diseased leaf vs healthy)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A500"/>
                </a:solidFill>
              </a:rPr>
              <a:t>Goal: Build an accurate, interpretable plant disease detection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Train a Custom CNN (5-block) from scratch on 87k+ plant leaf images.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Fine-tune ResNet50 (ImageNet pretrained) via transfer learning.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Implement Grad-CAM heatmaps for visual explainability of predictions.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Provide agronomic prevention &amp; treatment tips per disease class.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Compare both models on accuracy, loss, and inference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Reviewed 10+ papers on CNN-based plant disease classification.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Current SOTA: EfficientNet, Vision Transformers — high accuracy but low interpretability.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PlantVillage dataset widely benchmarked; augmented versions push accuracy limits.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Gap: Few systems combine Grad-CAM XAI with practical agronomic advisory outputs.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Transfer learning (ResNet, VGG, Inception) consistently outperforms CNNs from scratch.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188720"/>
            <a:ext cx="10332720" cy="475488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73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[ System Architecture Diagram
(Input → Preprocessing → CNN/ResNet → Grad-CAM → Tips Output)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0A500"/>
                </a:solidFill>
              </a:rPr>
              <a:t>Proposed Solution: Dual-Model Explainable Plant Disease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Architecture 1: Custom CNN — 5 convolutional blocks (32→512 filters), Dropout, Dense(38).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Architecture 2: ResNet50 — ImageNet pretrained; conv5 block fine-tuned, GlobalAvgPool, Dropout(0.5).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XAI Layer: Grad-CAM overlays highlight discriminative leaf regions per prediction.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Advisory Layer: Per-class prevention &amp; treatment tips provided post-inference via prevention_tips.py.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Inference: Single-image pipeline (predict.py) returns class, confidence, top-3, heatmap, and tips.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Source: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28016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New Plant Diseases Dataset (Augmented) — Kaggle.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868680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385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Size: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93852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~87,000 training images | ~22,000 validation images.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22576"/>
            <a:ext cx="868680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968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Classes: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596896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38 disease/healthy categories across 14 plant species.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80944"/>
            <a:ext cx="868680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552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Format: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255264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128×128 RGB (CNN) | 224×224 RGB (ResNet50); ImageFolder structure.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639312"/>
            <a:ext cx="868680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136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Split: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91363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Train / Validation folders; augmentation includes flip, rotation.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97680"/>
            <a:ext cx="868680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78240" y="1280160"/>
            <a:ext cx="3200400" cy="41148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[ Dataset Sample Images
(Healthy vs. Diseased Leaves)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1.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23444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Leaf image uploaded; resized to 128×128 or 224×224.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81912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013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2. Augmentation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01368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RandomHorizontalFlip, RandomRotation(15°) applied during training.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3682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3. Model 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68296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Image passed through CNN / ResNet50; logits computed.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15768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9352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4.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935224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Softmax → top-1 class + confidence; top-3 alternatives surfaced.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82696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021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5. Grad-CAM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50215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Gradient-weighted activation map overlaid on original image.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49624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69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6. Advisory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0690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prevention_tips.py returns formatted treatment &amp; prevention text.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16552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Tools &amp;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265176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</a:rPr>
              <a:t>Deep Learning (TF/Keras)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TensorFlow 2.x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299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Keras (Custom CNN + ResNet50)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1401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EarlyStopping &amp; ModelCheckpoint callbacks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143000"/>
            <a:ext cx="265176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188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</a:rPr>
              <a:t>Transfer Learning (PyTorch)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PyTorch 2.0+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0299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torchvision ResNet50 (ImageNet weights)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41401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Adam optimizer, CrossEntropyLoss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143000"/>
            <a:ext cx="265176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188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</a:rPr>
              <a:t>XAI &amp; Visualization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Grad-CAM (custom gradcam.py)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299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Matplotlib / Seaborn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41401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OpenCV (heatmap overlay)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143000"/>
            <a:ext cx="2651760" cy="4480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1887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</a:rPr>
              <a:t>Data &amp; Utilities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scikit-learn (metrics, confusion matrix)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02996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NumPy / PIL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41401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Jupyter Notebook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Dataset Module (utils/dataset.py)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 ImageFolder-based dataloaders  |  Train/val augmentation pipeline  |  Configurable img_size, batch_size, workers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10512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Model Module (models/resnet50.py)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6771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 ResNet50 with selective layer freezing  |  Dropout + custom FC head (38 classes)  |  Trainable_layers param for fine-tune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87752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Training Module (training/train_resnet.py)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44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 Epoch loop with train/val phases  |  Best-model checkpoint saving (val_acc)  |  Loss + accuracy curve plotting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64992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20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Prediction &amp; XAI (utils/predict.py)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221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 Single-image inference pipeline  |  Top-K class prediction with confidence  |  Grad-CAM heatmap generation (optional)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42232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Advisory Module (utils/prevention_tips.py)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599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   38-class agronomic tips dictionary  |  Formatted text output per disease  |  Integrated into inference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919472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Implementation 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657600" cy="27432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[ Training Loss &amp; Accuracy Curves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657600" cy="27432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[ Confusion Matrix Heatmap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188720"/>
            <a:ext cx="3566160" cy="27432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[ Grad-CAM Overlay Output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5029200" cy="18288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724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[ Sample Prediction Report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4114800"/>
            <a:ext cx="6217920" cy="18288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47244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[ Disease Class Distribution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Experimental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57600" cy="3840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3474720" cy="3840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280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Custom CNN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234440"/>
            <a:ext cx="3474720" cy="3840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28016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ResNet50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618488"/>
            <a:ext cx="36576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6642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Final Train 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618488"/>
            <a:ext cx="34747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64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98.12%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618488"/>
            <a:ext cx="34747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664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99.81%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002536"/>
            <a:ext cx="3657600" cy="384048"/>
          </a:xfrm>
          <a:prstGeom prst="rect">
            <a:avLst/>
          </a:prstGeom>
          <a:solidFill>
            <a:srgbClr val="2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04825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Final Val 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2002536"/>
            <a:ext cx="3474720" cy="384048"/>
          </a:xfrm>
          <a:prstGeom prst="rect">
            <a:avLst/>
          </a:prstGeom>
          <a:solidFill>
            <a:srgbClr val="2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204825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96.26%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2002536"/>
            <a:ext cx="3474720" cy="384048"/>
          </a:xfrm>
          <a:prstGeom prst="rect">
            <a:avLst/>
          </a:prstGeom>
          <a:solidFill>
            <a:srgbClr val="2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04825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99.45%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386584"/>
            <a:ext cx="365760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43230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Final Train Loss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2386584"/>
            <a:ext cx="34747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43230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0.0571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386584"/>
            <a:ext cx="347472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43230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0.0059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770632"/>
            <a:ext cx="3657600" cy="384048"/>
          </a:xfrm>
          <a:prstGeom prst="rect">
            <a:avLst/>
          </a:prstGeom>
          <a:solidFill>
            <a:srgbClr val="2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8163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Final Val Loss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2770632"/>
            <a:ext cx="3474720" cy="384048"/>
          </a:xfrm>
          <a:prstGeom prst="rect">
            <a:avLst/>
          </a:prstGeom>
          <a:solidFill>
            <a:srgbClr val="2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28163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0.1227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2770632"/>
            <a:ext cx="3474720" cy="384048"/>
          </a:xfrm>
          <a:prstGeom prst="rect">
            <a:avLst/>
          </a:prstGeom>
          <a:solidFill>
            <a:srgbClr val="22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8163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0.0214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3337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ResNet50 (transfer learning) significantly outperforms Custom CNN.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794760"/>
            <a:ext cx="10972800" cy="228600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556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[ Accuracy / Loss Curve Plot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ResNet50 (val acc 99.45%) drastically outperforms Custom CNN (96.26%) due to ImageNet pretraining.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Transfer learning with selective layer unfreezing (conv5 block) enables fast convergence.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Grad-CAM heatmaps confirm model focuses on correct leaf lesion areas — improving trust.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Custom CNN still competitive for lightweight edge deployment (lower model size).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Overfitting mitigated via Dropout (0.25 / 0.4 CNN; 0.5 ResNet) and data augmentation.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Work Completed So Far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9144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188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Dataset Setup &amp; 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Downloaded 87k+ images, organized ImageFolder structure, exploratory class-balance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47088"/>
            <a:ext cx="9144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928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8470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Custom CNN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84708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Built 5-block CNN in TF/Keras; trained with Adam (lr=0.0001); achieved 96.26% val accuracy.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05456"/>
            <a:ext cx="9144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5511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5054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ResNet50 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505456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ImageNet pretrained ResNet50; unfroze conv5 block; achieved 99.45% val accuracy.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163824"/>
            <a:ext cx="9144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2095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1638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Grad-CAM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163824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Implemented gradcam.py; integrated into predict.py for visual XAI on single-image inference.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22192"/>
            <a:ext cx="9144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8679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221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Advisory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82219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Built 38-class prevention_tips.py with agronomic treatment advice per disease category.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Publication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Status: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Drafting manuscript — methodology and experimental results sections in progress.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01368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214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Target Venue: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2140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IEEE / Springer journal focused on agricultural AI, precision farming, or XAI.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51176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712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Working Title: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87121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"AgriXAI: Explainable Deep Learning for Multi-Class Plant Disease Detection using Grad-CAM"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00984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2102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A500"/>
                </a:solidFill>
              </a:rPr>
              <a:t>Scope: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62102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Novel contribution: combining transfer learning + XAI + agronomic advisory in a single pipeline.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50792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Challenges Faced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73152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Dataset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234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Managing ~1.3 GB dataset; GPU memory constraints during ResNet50 training with batch_size=32.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73152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Grad-CAM 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Hooking correct target layers across TF (Keras) and PyTorch ResNet architectures separately.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68880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88920"/>
            <a:ext cx="73152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Class Imbalance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788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38-class label visualization; long-tail classes requiring careful confusion-matrix analysis.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73152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A500"/>
                </a:solidFill>
              </a:rPr>
              <a:t>Augmentation 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5661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Balancing RandomRotation / Flip without introducing harmful distribution shift.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023360"/>
            <a:ext cx="11247120" cy="18288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Achieved 99.45% validation accuracy with ResNet50 transfer learning on 38-class plant disease dataset.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Demonstrated that Custom CNN (96.26%) provides a strong lightweight alternative.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Grad-CAM integration eliminates the 'black box' problem — predictions are visually interpretable.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Prevention tips advisory system bridges AI output to real agronomic action for farmers.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Scalable pipeline with separate training, inference, and comparison modules.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09728" cy="53949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Major Project Review-II - 16th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40312" y="6473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0A500"/>
                </a:solidFill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[1]  Hughes, D. &amp; Salathé, M. An open access repository of images on plant health to enable the development of mobile disease diagnostics. arXiv, 2015.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[2]  He, K., et al. Deep Residual Learning for Image Recognition. CVPR, 2016.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9514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[3]  Selvaraju, R. R., et al. Grad-CAM: Visual Explanations from Deep Networks via Gradient-based Localization. ICCV, 2017.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2549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[4]  Mohanty, S. P., et al. Using Deep Learning for Image-Based Plant Disease Detection. Frontiers in Plant Science, 2016.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558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[5]  Goodfellow, I., Bengio, Y., &amp; Courville, A. Deep Learning. MIT Press, 2016.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CCCC"/>
                </a:solidFill>
              </a:rPr>
              <a:t>AgriXAI — Plant Disease Classification Using Deep Learning &amp; Explainable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4023360"/>
            <a:ext cx="2286000" cy="1280160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4450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[ Healthy vs Diseased Leaf — Side by Side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CCCC"/>
                </a:solidFill>
              </a:rPr>
              <a:t>Major Project Review-II  |  16th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