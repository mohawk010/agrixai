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09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3" r:id="rId7"/>
    <p:sldId id="262" r:id="rId8"/>
    <p:sldId id="268" r:id="rId9"/>
    <p:sldId id="264" r:id="rId10"/>
    <p:sldId id="265" r:id="rId11"/>
    <p:sldId id="266" r:id="rId12"/>
    <p:sldId id="267" r:id="rId13"/>
    <p:sldId id="269" r:id="rId14"/>
    <p:sldId id="270" r:id="rId15"/>
    <p:sldId id="271" r:id="rId16"/>
    <p:sldId id="272" r:id="rId17"/>
    <p:sldId id="274" r:id="rId18"/>
    <p:sldId id="275" r:id="rId19"/>
    <p:sldId id="276" r:id="rId20"/>
    <p:sldId id="277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662"/>
  </p:normalViewPr>
  <p:slideViewPr>
    <p:cSldViewPr snapToGrid="0" snapToObjects="1">
      <p:cViewPr varScale="1">
        <p:scale>
          <a:sx n="75" d="100"/>
          <a:sy n="75" d="100"/>
        </p:scale>
        <p:origin x="792" y="43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68A160-391F-4CE7-9E60-939F4BE69CBE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20B48B-7E58-43F6-9891-14218BF0E6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2230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DED209-8ED5-15DE-29FF-661DB0BA26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09305D-9D5B-8E89-8FBD-53A83073FB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94ECD4-99E1-0120-699B-756899993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FA947-879E-4DC2-869D-399C1EC1ABCA}" type="datetime1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BFD38C-7979-F853-9480-CB7E34D7D0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Major Project Review-II - 16th March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BDA4DD-FB3C-B1DA-3680-097230FDB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0568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DC66F0-924D-D873-FCB3-8D1EBBB8B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1787B6-705A-1B0E-2BDE-AC9429A5B7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741441-B94C-8FB5-D591-1C1B3DA16A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A76A6-FCC7-4C03-90A7-366FE2299295}" type="datetime1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D5433C-457D-D292-A115-B62C52A04C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Major Project Review-II - 16th March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E32A15-A0C2-3FC0-D1C6-0A8D1D7014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2019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AB688-C973-B6BE-2A31-BCD84DD8B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07F848-F914-F9D7-3DDA-FEB1EB07A8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468A61-F9B0-5D48-F7E7-491517534D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45E71-DD0E-4511-B1B4-E632602C70B7}" type="datetime1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70B631-FACC-9CFB-1098-34C13DC90F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Major Project Review-II - 16th March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637C94-4FAC-E71F-37D0-4CE1964FD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5823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11884-DD7F-4A03-CEAE-F962D70585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1AF438-5D69-176E-EFE6-F41282B850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E0976B-A599-D952-BC85-6FA5D47CBB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246ADF-E60F-028F-E9D3-0C0BFCC80D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05B68B-CB59-4155-9B93-3D1B5118116F}" type="datetime1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BE9CDE-A7B2-674A-8AA3-76A145CDCB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Major Project Review-II - 16th March 2026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02E838-E55A-D5AD-7FCA-67D4CACBB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578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A1E7F-F559-863E-1868-0D264B6253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8B26EE-7E5C-B62A-41AC-96F6EFBE24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43BEDB-53E4-DBE6-7A3F-353DE6B66A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9969A02-0888-ED1E-53D7-3C56FF1F27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BB7A480-B158-6F76-F1C5-F4D0E40FE2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62563DC-A4CD-F1BC-C333-B3F54A3E3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54FF5-E2F6-4BF6-9C72-535C4BBAE163}" type="datetime1">
              <a:rPr lang="en-US" smtClean="0"/>
              <a:t>3/16/2026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8CD40E3-CE78-0465-F293-4144883129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Major Project Review-II - 16th March 2026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F314FE6-4EE6-1BE6-1C48-69EF62175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664642"/>
      </p:ext>
    </p:extLst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27C4C-9F2D-F339-8D99-542E65895E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4DC392-11F9-DB8C-B5AF-69BA2ECA84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FF2FE-B16C-4B24-B03B-93837832CEBD}" type="datetime1">
              <a:rPr lang="en-US" smtClean="0"/>
              <a:t>3/16/2026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5E9C-FB2C-4F56-D625-3D6FDE715E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Major Project Review-II - 16th March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D48716-F580-4F80-1E62-419039772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9103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0C245A7-0C5A-BDFB-A2DF-081813B26E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2F6CF-5203-4E76-9F14-6DADA272531E}" type="datetime1">
              <a:rPr lang="en-US" smtClean="0"/>
              <a:t>3/16/2026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0662EB-CF78-51B2-667B-AB297AD44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Major Project Review-II - 16th March 2026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9777D9-5F3E-9D9F-4BDE-C42BD1320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7687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CD428-DE73-DA91-5279-D6A55ED349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0131DB-EF7B-2422-A1AA-35AAF88DAE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EA29B1-AB46-6860-6135-B07481DD0D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E810F4-8AA8-AC75-1FFC-40803EA75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4F0DB-B06E-4F7F-9DDB-1486F29EFD03}" type="datetime1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13E2E7-630D-1829-F13A-B1A5D4BBE1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Major Project Review-II - 16th March 2026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D7C9FC-F12D-91B4-82E6-6D1E6CD70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8587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8E01AE-856D-7638-34AC-23E8BCFB1D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C90086-D5F5-C335-EA75-6EC93D4FE8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509504-BA27-80B1-1603-EA42F9DE23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3D093F-05BC-70B9-E67D-A5CAE10E8F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49F49-480E-4B5E-BA5E-805CBA7D3F09}" type="datetime1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2427D6-931C-2A7B-A17B-A94187C5FB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Major Project Review-II - 16th March 2026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2DD133-488D-F573-80AC-F91D2F613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9143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CA61B7-290D-A184-B7A0-644B53679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571918-9240-1020-C4BA-48EA523BAD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DBB693-9D28-3E14-C04E-8BF02FEDF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22998-E1AC-42FE-B791-0A8A87EA734F}" type="datetime1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315150-2C40-C1BA-0682-4A74166C22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Major Project Review-II - 16th March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FC736B-6451-4956-127A-07F903A21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73260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3ED4178-0818-10DD-A540-01B498600D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361006-936D-621A-1BE0-02711EF4D2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3523C2-F9EB-965C-E622-DFF61A2462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CA97B-4525-46A0-AD03-BDF4C7DE8E09}" type="datetime1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F9A3D0-0C93-653C-7C48-727343400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Major Project Review-II - 16th March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7D7136-50A5-F542-19F5-1343B4789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1693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8EDDFE7-4978-2F0D-1E94-A180D08B44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4E3E5A-938C-959B-BB1F-9903AE0F43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4D0C84-6304-8CEE-26E2-752CF90A77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854FF5-E2F6-4BF6-9C72-535C4BBAE163}" type="datetime1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127E8D-C3C4-E6A7-E106-9AE95E0C2C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Major Project Review-II - 16th March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6191C4-FE4F-61AC-D915-52FE04AAE7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55889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0" r:id="rId1"/>
    <p:sldLayoutId id="2147483811" r:id="rId2"/>
    <p:sldLayoutId id="2147483812" r:id="rId3"/>
    <p:sldLayoutId id="2147483813" r:id="rId4"/>
    <p:sldLayoutId id="2147483814" r:id="rId5"/>
    <p:sldLayoutId id="2147483815" r:id="rId6"/>
    <p:sldLayoutId id="2147483816" r:id="rId7"/>
    <p:sldLayoutId id="2147483817" r:id="rId8"/>
    <p:sldLayoutId id="2147483818" r:id="rId9"/>
    <p:sldLayoutId id="2147483819" r:id="rId10"/>
    <p:sldLayoutId id="2147483820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>
            <a:spLocks noGrp="1"/>
          </p:cNvSpPr>
          <p:nvPr>
            <p:ph type="ctrTitle"/>
          </p:nvPr>
        </p:nvSpPr>
        <p:spPr>
          <a:xfrm>
            <a:off x="2209800" y="1768133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rmAutofit fontScale="90000"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4400"/>
            </a:pP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Deepfake Detection using Explainable AI</a:t>
            </a:r>
            <a:endParaRPr b="1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pic>
        <p:nvPicPr>
          <p:cNvPr id="90" name="Google Shape;90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3095"/>
            <a:ext cx="2210765" cy="755015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"/>
          <p:cNvSpPr/>
          <p:nvPr/>
        </p:nvSpPr>
        <p:spPr>
          <a:xfrm>
            <a:off x="2934665" y="0"/>
            <a:ext cx="6172200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rgbClr val="000000"/>
              </a:buClr>
              <a:buSzPts val="1800"/>
            </a:pPr>
            <a:r>
              <a:rPr lang="en-US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SRM INSTITUTE OF SCIENCE AND TECHNOLOGY </a:t>
            </a:r>
            <a:endParaRPr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>
              <a:buClr>
                <a:srgbClr val="000000"/>
              </a:buClr>
              <a:buSzPts val="1800"/>
            </a:pPr>
            <a:r>
              <a:rPr lang="en-US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AND ENGINEERING</a:t>
            </a:r>
            <a:endParaRPr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>
              <a:buClr>
                <a:srgbClr val="000000"/>
              </a:buClr>
              <a:buSzPts val="1800"/>
            </a:pPr>
            <a:endParaRPr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9E207C1-BA0F-F483-405B-6E2AFEC8E383}"/>
              </a:ext>
            </a:extLst>
          </p:cNvPr>
          <p:cNvSpPr txBox="1"/>
          <p:nvPr/>
        </p:nvSpPr>
        <p:spPr>
          <a:xfrm>
            <a:off x="492369" y="185224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762D224-BE21-30D5-D2E1-EDFEE6633ADD}"/>
              </a:ext>
            </a:extLst>
          </p:cNvPr>
          <p:cNvSpPr txBox="1"/>
          <p:nvPr/>
        </p:nvSpPr>
        <p:spPr>
          <a:xfrm>
            <a:off x="116449" y="5008880"/>
            <a:ext cx="46053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 Name: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Mr.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Shardul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Singh Chauhan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Designation: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Department: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Science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654AD0-09A3-101B-C748-2296214DD4DB}"/>
              </a:ext>
            </a:extLst>
          </p:cNvPr>
          <p:cNvSpPr txBox="1"/>
          <p:nvPr/>
        </p:nvSpPr>
        <p:spPr>
          <a:xfrm>
            <a:off x="8355025" y="5008880"/>
            <a:ext cx="3505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ID: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BT27AIMLC014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Reg. No: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RA2311026030125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Name: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Akash Khedar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934719"/>
          </a:xfrm>
        </p:spPr>
        <p:txBody>
          <a:bodyPr/>
          <a:lstStyle/>
          <a:p>
            <a:pPr algn="ctr"/>
            <a:r>
              <a:rPr lang="en-IN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  <a:endParaRPr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69866"/>
            <a:ext cx="10515600" cy="4351338"/>
          </a:xfrm>
        </p:spPr>
        <p:txBody>
          <a:bodyPr>
            <a:normAutofit fontScale="85000" lnSpcReduction="20000"/>
          </a:bodyPr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Background: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Rapid rise of highly realistic AI-generated media.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Problem: 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Deepfakes are extensively used for misinformation and fraud.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Motivation: 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for reliable, transparent, and interpretable detection mechanisms.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Domain: 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 Media Forensics &amp; Identity Verification.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2B5C2F-98B5-E6BE-362F-047B039825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Major Project Review-II - 16th March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7FA715-A6BE-AF5F-0403-E0AC7A6FB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C1FF6DA9-008F-8B48-92A6-B652298478BF}" type="slidenum">
              <a:rPr lang="en-US" smtClean="0"/>
              <a:t>2</a:t>
            </a:fld>
            <a:endParaRPr lang="en-US"/>
          </a:p>
        </p:txBody>
      </p:sp>
      <p:pic>
        <p:nvPicPr>
          <p:cNvPr id="4" name="Google Shape;90;p1">
            <a:extLst>
              <a:ext uri="{FF2B5EF4-FFF2-40B4-BE49-F238E27FC236}">
                <a16:creationId xmlns:a16="http://schemas.microsoft.com/office/drawing/2014/main" id="{C3D1074B-E001-B0A7-EC68-5C855B66E10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44451"/>
            <a:ext cx="2210765" cy="7550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120141"/>
          </a:xfrm>
        </p:spPr>
        <p:txBody>
          <a:bodyPr/>
          <a:lstStyle/>
          <a:p>
            <a:pPr algn="ctr"/>
            <a:r>
              <a:rPr lang="en-IN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</a:t>
            </a:r>
            <a:r>
              <a:rPr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detection tools are opaque 'black boxes'. High raw accuracy does not equate to user trust in high-stakes environments.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tools offering both visual and textual reasoning.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08F6E6-52CB-7AF7-C75D-6ACA83EFCF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Major Project Review-II - 16th March 2026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8949DA-7B34-BB7F-DC8E-E9FA3D003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C1FF6DA9-008F-8B48-92A6-B652298478BF}" type="slidenum">
              <a:rPr lang="en-US" smtClean="0"/>
              <a:t>3</a:t>
            </a:fld>
            <a:endParaRPr lang="en-US"/>
          </a:p>
        </p:txBody>
      </p:sp>
      <p:pic>
        <p:nvPicPr>
          <p:cNvPr id="4" name="Google Shape;90;p1">
            <a:extLst>
              <a:ext uri="{FF2B5EF4-FFF2-40B4-BE49-F238E27FC236}">
                <a16:creationId xmlns:a16="http://schemas.microsoft.com/office/drawing/2014/main" id="{4E3DC071-AED6-6500-96F9-BD59DA757F0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44451"/>
            <a:ext cx="2210765" cy="7550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35243"/>
            <a:ext cx="12192000" cy="1163003"/>
          </a:xfrm>
        </p:spPr>
        <p:txBody>
          <a:bodyPr/>
          <a:lstStyle/>
          <a:p>
            <a:pPr algn="ctr"/>
            <a:r>
              <a:rPr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78585"/>
            <a:ext cx="10515600" cy="4351338"/>
          </a:xfrm>
        </p:spPr>
        <p:txBody>
          <a:bodyPr/>
          <a:lstStyle/>
          <a:p>
            <a:pPr marL="0" indent="0" algn="just">
              <a:buNone/>
            </a:pP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Goal: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highly accurate, trustworthy deepfake detection system.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Objective: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a robust ensemble of 5 state-of-the-art CNN models.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visual explainability (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GradCAM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heatmaps).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Introduce Frequency-Spatial Artifact Fusion combined with MLLM text reasoning.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DA7F4D-270C-0B9F-713B-A248C5809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Major Project Review-II - 16th March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9B70CB-CBB5-CD44-C62F-8AE7BE386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C1FF6DA9-008F-8B48-92A6-B652298478BF}" type="slidenum">
              <a:rPr lang="en-US" smtClean="0"/>
              <a:t>4</a:t>
            </a:fld>
            <a:endParaRPr lang="en-US"/>
          </a:p>
        </p:txBody>
      </p:sp>
      <p:pic>
        <p:nvPicPr>
          <p:cNvPr id="4" name="Google Shape;90;p1">
            <a:extLst>
              <a:ext uri="{FF2B5EF4-FFF2-40B4-BE49-F238E27FC236}">
                <a16:creationId xmlns:a16="http://schemas.microsoft.com/office/drawing/2014/main" id="{AE271DF4-D25A-9382-5FF6-C1B2479BCF5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"/>
            <a:ext cx="2210765" cy="7550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69379"/>
          </a:xfrm>
        </p:spPr>
        <p:txBody>
          <a:bodyPr/>
          <a:lstStyle/>
          <a:p>
            <a:pPr algn="ctr"/>
            <a:r>
              <a:rPr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56044"/>
            <a:ext cx="10515600" cy="4351338"/>
          </a:xfrm>
        </p:spPr>
        <p:txBody>
          <a:bodyPr/>
          <a:lstStyle/>
          <a:p>
            <a:pPr marL="0" indent="0" algn="just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Reviewed 10+ recent papers on deepfake and spatial forgery detection.</a:t>
            </a:r>
          </a:p>
          <a:p>
            <a:pPr marL="0" indent="0" algn="just">
              <a:buNone/>
            </a:pP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Meta: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CNNs (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ResNet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EfficientNet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) and Vision Transformers.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Limitations: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systems focus only on spatial pixels and ignore frequency domain anomalies.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Gap: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unified systems combining visual heatmaps with Large Language Model (LLM) reasoning.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7F8D70-01F6-57CC-DB65-DA1B4D6454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Major Project Review-II - 16th March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3A45DE-6762-6585-FB93-960F8F1E5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C1FF6DA9-008F-8B48-92A6-B652298478BF}" type="slidenum">
              <a:rPr lang="en-US" smtClean="0"/>
              <a:t>5</a:t>
            </a:fld>
            <a:endParaRPr lang="en-US"/>
          </a:p>
        </p:txBody>
      </p:sp>
      <p:pic>
        <p:nvPicPr>
          <p:cNvPr id="4" name="Google Shape;90;p1">
            <a:extLst>
              <a:ext uri="{FF2B5EF4-FFF2-40B4-BE49-F238E27FC236}">
                <a16:creationId xmlns:a16="http://schemas.microsoft.com/office/drawing/2014/main" id="{3E9D54C7-13AD-4F54-8433-9ED942F3C0D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44451"/>
            <a:ext cx="2210765" cy="7550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0318"/>
            <a:ext cx="12192000" cy="1325563"/>
          </a:xfrm>
        </p:spPr>
        <p:txBody>
          <a:bodyPr/>
          <a:lstStyle/>
          <a:p>
            <a:pPr algn="ctr"/>
            <a:r>
              <a:rPr lang="en-IN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  <a:endParaRPr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79F9F6-2B13-EA1A-43FC-678606F853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Major Project Review-II - 16th March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3BD502-436C-00D9-0A40-08019A0C6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C1FF6DA9-008F-8B48-92A6-B652298478BF}" type="slidenum">
              <a:rPr lang="en-US" smtClean="0"/>
              <a:t>6</a:t>
            </a:fld>
            <a:endParaRPr lang="en-US"/>
          </a:p>
        </p:txBody>
      </p:sp>
      <p:pic>
        <p:nvPicPr>
          <p:cNvPr id="4" name="Google Shape;90;p1">
            <a:extLst>
              <a:ext uri="{FF2B5EF4-FFF2-40B4-BE49-F238E27FC236}">
                <a16:creationId xmlns:a16="http://schemas.microsoft.com/office/drawing/2014/main" id="{BCAC2F04-95CF-22FE-6B82-E1A4B802B481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91123"/>
            <a:ext cx="2210765" cy="755015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 descr="A diagram of a company">
            <a:extLst>
              <a:ext uri="{FF2B5EF4-FFF2-40B4-BE49-F238E27FC236}">
                <a16:creationId xmlns:a16="http://schemas.microsoft.com/office/drawing/2014/main" id="{6C01F946-CAF9-68A5-3315-F90B7DE40B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4207" y="1071245"/>
            <a:ext cx="8923586" cy="501951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8255"/>
            <a:ext cx="12166600" cy="1325563"/>
          </a:xfrm>
        </p:spPr>
        <p:txBody>
          <a:bodyPr/>
          <a:lstStyle/>
          <a:p>
            <a:pPr algn="ctr"/>
            <a:r>
              <a:rPr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41145"/>
            <a:ext cx="10515600" cy="4351338"/>
          </a:xfrm>
        </p:spPr>
        <p:txBody>
          <a:bodyPr/>
          <a:lstStyle/>
          <a:p>
            <a:pPr marL="0" indent="0" algn="just">
              <a:buNone/>
            </a:pP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Solution: 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Frequency-Spatial Explainable Ensemble System.</a:t>
            </a:r>
          </a:p>
          <a:p>
            <a:pPr algn="just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Architecture: 5 separate CNN classifiers extract spatial features.</a:t>
            </a:r>
          </a:p>
          <a:p>
            <a:pPr algn="just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Feature: System cross-references spatial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GradCAMs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frequency-domain (DCT) inconsistencies.</a:t>
            </a:r>
          </a:p>
          <a:p>
            <a:pPr algn="just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XAI Layer: Google Gemini (MLLM) fuses spatial and frequency data to generate a final, human-readable 'Artifact Report'.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2537A8-7354-B33D-2495-976FB3421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Major Project Review-II - 16th March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C62BD0-E2AD-F9BC-4F69-4783D82C2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C1FF6DA9-008F-8B48-92A6-B652298478BF}" type="slidenum">
              <a:rPr lang="en-US" smtClean="0"/>
              <a:t>7</a:t>
            </a:fld>
            <a:endParaRPr lang="en-US"/>
          </a:p>
        </p:txBody>
      </p:sp>
      <p:pic>
        <p:nvPicPr>
          <p:cNvPr id="4" name="Google Shape;90;p1">
            <a:extLst>
              <a:ext uri="{FF2B5EF4-FFF2-40B4-BE49-F238E27FC236}">
                <a16:creationId xmlns:a16="http://schemas.microsoft.com/office/drawing/2014/main" id="{9DCC8050-CF8E-7B26-1B6A-BBF2B746B7E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44451"/>
            <a:ext cx="2210765" cy="7550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9845"/>
            <a:ext cx="12192000" cy="1325563"/>
          </a:xfrm>
        </p:spPr>
        <p:txBody>
          <a:bodyPr/>
          <a:lstStyle/>
          <a:p>
            <a:pPr algn="ctr"/>
            <a:r>
              <a:rPr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Source: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'140k-real-and-fake-faces' dataset (Kaggle).</a:t>
            </a:r>
          </a:p>
          <a:p>
            <a:pPr marL="0" indent="0" algn="just">
              <a:buNone/>
            </a:pP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Size: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190,335 images providing a perfect 50/50 class balance.</a:t>
            </a:r>
          </a:p>
          <a:p>
            <a:pPr marL="0" indent="0" algn="just">
              <a:buNone/>
            </a:pP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Format: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Standardized 256x256 resolution RGB formatting.</a:t>
            </a:r>
          </a:p>
          <a:p>
            <a:pPr marL="0" indent="0" algn="just">
              <a:buNone/>
            </a:pP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Split: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validation ensured a 73% (Train), 20% (Val), and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% (Test) distribution.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06CCB6-DC77-A141-AB76-023EDC3E1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Major Project Review-II - 16th March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C69604-3472-2330-C7C9-F3DD28E1A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C1FF6DA9-008F-8B48-92A6-B652298478BF}" type="slidenum">
              <a:rPr lang="en-US" smtClean="0"/>
              <a:t>8</a:t>
            </a:fld>
            <a:endParaRPr lang="en-US"/>
          </a:p>
        </p:txBody>
      </p:sp>
      <p:pic>
        <p:nvPicPr>
          <p:cNvPr id="4" name="Google Shape;90;p1">
            <a:extLst>
              <a:ext uri="{FF2B5EF4-FFF2-40B4-BE49-F238E27FC236}">
                <a16:creationId xmlns:a16="http://schemas.microsoft.com/office/drawing/2014/main" id="{8F15CF43-7553-514F-5E7C-67813C8EE0C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23214"/>
            <a:ext cx="2210765" cy="7550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3018"/>
            <a:ext cx="12192000" cy="1325563"/>
          </a:xfrm>
        </p:spPr>
        <p:txBody>
          <a:bodyPr/>
          <a:lstStyle/>
          <a:p>
            <a:pPr algn="ctr"/>
            <a:r>
              <a:rPr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71500" indent="-571500" algn="just">
              <a:buFont typeface="+mj-lt"/>
              <a:buAutoNum type="romanLcPeriod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 User uploads image via React interface.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 algn="just">
              <a:buFont typeface="+mj-lt"/>
              <a:buAutoNum type="romanLcPeriod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Processing: Image processed by 5 concurrent CNN models.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 algn="just">
              <a:buFont typeface="+mj-lt"/>
              <a:buAutoNum type="romanLcPeriod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Fusion: Ensemble probability is calculated and finalized.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 algn="just">
              <a:buFont typeface="+mj-lt"/>
              <a:buAutoNum type="romanLcPeriod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XAI (Visual): Target-layer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GradCAM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overlay is generated.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 algn="just">
              <a:buFont typeface="+mj-lt"/>
              <a:buAutoNum type="romanLcPeriod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XAI (Text): Gemini API analyzes the heatmap to provide context.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0E1A6D-CC0B-A6FF-CD57-11470869D0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Major Project Review-II - 16th March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CAD2DB-E925-22C5-9F86-EFA58878B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C1FF6DA9-008F-8B48-92A6-B652298478BF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4" name="Google Shape;90;p1">
            <a:extLst>
              <a:ext uri="{FF2B5EF4-FFF2-40B4-BE49-F238E27FC236}">
                <a16:creationId xmlns:a16="http://schemas.microsoft.com/office/drawing/2014/main" id="{45934F25-B1C4-72ED-5D0F-7939705EF39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44451"/>
            <a:ext cx="2210765" cy="7550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3018"/>
            <a:ext cx="12192000" cy="1325563"/>
          </a:xfrm>
        </p:spPr>
        <p:txBody>
          <a:bodyPr/>
          <a:lstStyle/>
          <a:p>
            <a:pPr algn="ctr"/>
            <a:r>
              <a:rPr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Tools &amp;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91933"/>
            <a:ext cx="10515600" cy="4351338"/>
          </a:xfrm>
        </p:spPr>
        <p:txBody>
          <a:bodyPr/>
          <a:lstStyle/>
          <a:p>
            <a:pPr marL="0" indent="0" algn="just">
              <a:buNone/>
            </a:pP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 APIs: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3.8+,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2.0+</a:t>
            </a:r>
          </a:p>
          <a:p>
            <a:pPr marL="0" indent="0" algn="just">
              <a:buNone/>
            </a:pP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 UI: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 19, Material-UI 7.3.2,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Vite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 Models: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ResNet50, ResNet152V2, InceptionResNetV2,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Xception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EfficientNetB4</a:t>
            </a:r>
          </a:p>
          <a:p>
            <a:pPr marL="0" indent="0" algn="just">
              <a:buNone/>
            </a:pP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XAI Technologies: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TorchCAM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, Google Generative AI (Gemini)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FD9DA4-3BDA-A357-4E58-44B0E531E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Major Project Review-II - 16th March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738EBA-0EC5-6401-0F55-2B2AE926C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C1FF6DA9-008F-8B48-92A6-B652298478BF}" type="slidenum">
              <a:rPr lang="en-US" smtClean="0"/>
              <a:t>10</a:t>
            </a:fld>
            <a:endParaRPr lang="en-US"/>
          </a:p>
        </p:txBody>
      </p:sp>
      <p:pic>
        <p:nvPicPr>
          <p:cNvPr id="4" name="Google Shape;90;p1">
            <a:extLst>
              <a:ext uri="{FF2B5EF4-FFF2-40B4-BE49-F238E27FC236}">
                <a16:creationId xmlns:a16="http://schemas.microsoft.com/office/drawing/2014/main" id="{9EA168D3-F00A-7BC1-E271-16ECFAE9E76C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44451"/>
            <a:ext cx="2210765" cy="7550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22353"/>
            <a:ext cx="12192000" cy="1325563"/>
          </a:xfrm>
        </p:spPr>
        <p:txBody>
          <a:bodyPr/>
          <a:lstStyle/>
          <a:p>
            <a:pPr algn="ctr"/>
            <a:r>
              <a:rPr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Modules Implemented</a:t>
            </a:r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Details</a:t>
            </a:r>
            <a:endParaRPr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 Service Layer: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model loading, inference processing, and gradient extraction.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 Web Layer: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Asynchronous endpoints for handling base64 multipart form data.</a:t>
            </a:r>
          </a:p>
          <a:p>
            <a:pPr marL="0" indent="0" algn="just">
              <a:buNone/>
            </a:pP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UI Layer: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 React hooks managing drag-and-drop upload and real-time inference feedback.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B81962-2824-972B-ACD9-C60805181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Major Project Review-II - 16th March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B9F7E3-45D1-A2A4-E7F4-CA729409A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C1FF6DA9-008F-8B48-92A6-B652298478BF}" type="slidenum">
              <a:rPr lang="en-US" smtClean="0"/>
              <a:t>11</a:t>
            </a:fld>
            <a:endParaRPr lang="en-US"/>
          </a:p>
        </p:txBody>
      </p:sp>
      <p:pic>
        <p:nvPicPr>
          <p:cNvPr id="4" name="Google Shape;90;p1">
            <a:extLst>
              <a:ext uri="{FF2B5EF4-FFF2-40B4-BE49-F238E27FC236}">
                <a16:creationId xmlns:a16="http://schemas.microsoft.com/office/drawing/2014/main" id="{6734DE98-7618-DE25-8DC7-205096C56A0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25781"/>
            <a:ext cx="2210765" cy="7550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pPr algn="ctr"/>
            <a:r>
              <a:rPr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B45F9-D4A3-B57D-4DF0-962056C6B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Major Project Review-II - 16th March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54A4D7-1249-0109-2C0F-5EE25963A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C1FF6DA9-008F-8B48-92A6-B652298478BF}" type="slidenum">
              <a:rPr lang="en-US" smtClean="0"/>
              <a:t>12</a:t>
            </a:fld>
            <a:endParaRPr lang="en-US"/>
          </a:p>
        </p:txBody>
      </p:sp>
      <p:pic>
        <p:nvPicPr>
          <p:cNvPr id="4" name="Google Shape;90;p1">
            <a:extLst>
              <a:ext uri="{FF2B5EF4-FFF2-40B4-BE49-F238E27FC236}">
                <a16:creationId xmlns:a16="http://schemas.microsoft.com/office/drawing/2014/main" id="{DF21A8FB-AE69-82DF-D29F-25B7B74E422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"/>
            <a:ext cx="2210765" cy="7550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25C7437-8C90-43BC-B0C8-B8EAC92BC6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6904" y="987121"/>
            <a:ext cx="7958192" cy="488375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3018"/>
            <a:ext cx="12192000" cy="1325563"/>
          </a:xfrm>
        </p:spPr>
        <p:txBody>
          <a:bodyPr/>
          <a:lstStyle/>
          <a:p>
            <a:pPr algn="ctr"/>
            <a:r>
              <a:rPr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19238"/>
            <a:ext cx="10515600" cy="4351338"/>
          </a:xfrm>
        </p:spPr>
        <p:txBody>
          <a:bodyPr/>
          <a:lstStyle/>
          <a:p>
            <a:pPr marL="0" indent="0" algn="just">
              <a:buNone/>
            </a:pP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Training: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Ensemble Average Accuracy of ~99.55%.</a:t>
            </a:r>
          </a:p>
          <a:p>
            <a:pPr marL="0" indent="0" algn="just">
              <a:buNone/>
            </a:pP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Validation: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Ensemble Average Accuracy of ~98.76%.</a:t>
            </a:r>
          </a:p>
          <a:p>
            <a:pPr marL="0" indent="0" algn="just">
              <a:buNone/>
            </a:pP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Generalization: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Minimal overfitting gap of just 0.79%.</a:t>
            </a:r>
          </a:p>
          <a:p>
            <a:pPr marL="0" indent="0" algn="just">
              <a:buNone/>
            </a:pP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Latency: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High-performance async responses take ~2-5s on GPU.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61B49B-EF98-0B13-243B-864E6FF630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Major Project Review-II - 16th March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BDCE82-7F45-EAE5-9536-596F2F523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C1FF6DA9-008F-8B48-92A6-B652298478BF}" type="slidenum">
              <a:rPr lang="en-US" smtClean="0"/>
              <a:t>13</a:t>
            </a:fld>
            <a:endParaRPr lang="en-US"/>
          </a:p>
        </p:txBody>
      </p:sp>
      <p:pic>
        <p:nvPicPr>
          <p:cNvPr id="4" name="Google Shape;90;p1">
            <a:extLst>
              <a:ext uri="{FF2B5EF4-FFF2-40B4-BE49-F238E27FC236}">
                <a16:creationId xmlns:a16="http://schemas.microsoft.com/office/drawing/2014/main" id="{AFCE3519-886E-4CEF-06BA-116075DE800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44451"/>
            <a:ext cx="2210765" cy="7550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345248"/>
          </a:xfrm>
        </p:spPr>
        <p:txBody>
          <a:bodyPr/>
          <a:lstStyle/>
          <a:p>
            <a:pPr algn="ctr"/>
            <a:r>
              <a:rPr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 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59229"/>
            <a:ext cx="10515600" cy="4351338"/>
          </a:xfrm>
        </p:spPr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5-model ensemble successfully minimizes individual architectural bias.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InceptionResNetV2 yielded the highest single-model accuracy (98.88%).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Fusing spatial classification with LLM reasoning drastically improves end-user trust.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successfully detects subtle GAN and Diffusion spatial grid artifacts.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0D5BDC-036D-CAB2-AA26-7B210F2BFD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Major Project Review-II - 16th March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A660B-1E5C-902E-868B-740E762D6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C1FF6DA9-008F-8B48-92A6-B652298478BF}" type="slidenum">
              <a:rPr lang="en-US" smtClean="0"/>
              <a:t>14</a:t>
            </a:fld>
            <a:endParaRPr lang="en-US"/>
          </a:p>
        </p:txBody>
      </p:sp>
      <p:pic>
        <p:nvPicPr>
          <p:cNvPr id="4" name="Google Shape;90;p1">
            <a:extLst>
              <a:ext uri="{FF2B5EF4-FFF2-40B4-BE49-F238E27FC236}">
                <a16:creationId xmlns:a16="http://schemas.microsoft.com/office/drawing/2014/main" id="{4569CBC8-2ED2-18AE-816C-766C17C2DFF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44451"/>
            <a:ext cx="2210765" cy="7550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35243"/>
            <a:ext cx="12192000" cy="1325563"/>
          </a:xfrm>
        </p:spPr>
        <p:txBody>
          <a:bodyPr/>
          <a:lstStyle/>
          <a:p>
            <a:pPr algn="ctr"/>
            <a:r>
              <a:rPr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 Completed So Far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1: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 &amp; Dataset Formatting (Complete).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2: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Ensemble Model Training &amp; Tuning (Complete).</a:t>
            </a:r>
          </a:p>
          <a:p>
            <a:pPr marL="0" indent="0" algn="just">
              <a:buNone/>
            </a:pP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3: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GradCAM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Gemini API Explainability Integration (Complete).</a:t>
            </a:r>
          </a:p>
          <a:p>
            <a:pPr marL="0" indent="0" algn="just">
              <a:buNone/>
            </a:pP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4: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Full-Stack React &amp;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Platform Deployment (Complete).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56EA96-A8C4-04F0-2A82-DE82A3A54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Major Project Review-II - 16th March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7BDEF4-9C88-5761-F507-0D537156B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C1FF6DA9-008F-8B48-92A6-B652298478BF}" type="slidenum">
              <a:rPr lang="en-US" smtClean="0"/>
              <a:t>15</a:t>
            </a:fld>
            <a:endParaRPr lang="en-US"/>
          </a:p>
        </p:txBody>
      </p:sp>
      <p:pic>
        <p:nvPicPr>
          <p:cNvPr id="4" name="Google Shape;90;p1">
            <a:extLst>
              <a:ext uri="{FF2B5EF4-FFF2-40B4-BE49-F238E27FC236}">
                <a16:creationId xmlns:a16="http://schemas.microsoft.com/office/drawing/2014/main" id="{060FEF51-7DFB-F6BA-5228-2038139364CC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"/>
            <a:ext cx="2210765" cy="7550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3496"/>
            <a:ext cx="12192000" cy="1325563"/>
          </a:xfrm>
        </p:spPr>
        <p:txBody>
          <a:bodyPr/>
          <a:lstStyle/>
          <a:p>
            <a:pPr algn="ctr"/>
            <a:r>
              <a:rPr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Publication Status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5130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Status: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Drafting manuscript methodology and results.</a:t>
            </a:r>
          </a:p>
          <a:p>
            <a:pPr marL="0" indent="0">
              <a:buNone/>
            </a:pP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Target: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Applicable AI/ML Ethics Journal focusing on Digital Forensics.</a:t>
            </a:r>
          </a:p>
          <a:p>
            <a:pPr marL="0" indent="0">
              <a:buNone/>
            </a:pP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Title: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Enhancing Trust in Deepfake Detection via Frequency-Spatial XAI Ensembles.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DF9526-BDF6-F9FF-14D3-DC2C3BF7A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Major Project Review-II - 16th March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5CCFEE-EBB1-2FB9-6A83-FEA80A689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C1FF6DA9-008F-8B48-92A6-B652298478BF}" type="slidenum">
              <a:rPr lang="en-US" smtClean="0"/>
              <a:t>16</a:t>
            </a:fld>
            <a:endParaRPr lang="en-US"/>
          </a:p>
        </p:txBody>
      </p:sp>
      <p:pic>
        <p:nvPicPr>
          <p:cNvPr id="4" name="Google Shape;90;p1">
            <a:extLst>
              <a:ext uri="{FF2B5EF4-FFF2-40B4-BE49-F238E27FC236}">
                <a16:creationId xmlns:a16="http://schemas.microsoft.com/office/drawing/2014/main" id="{591A32A8-78CF-2D17-951E-B7C62E27E601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44451"/>
            <a:ext cx="2210765" cy="7550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3018"/>
            <a:ext cx="12095480" cy="1325563"/>
          </a:xfrm>
        </p:spPr>
        <p:txBody>
          <a:bodyPr/>
          <a:lstStyle/>
          <a:p>
            <a:pPr algn="ctr"/>
            <a:r>
              <a:rPr lang="en-IN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</a:t>
            </a:r>
            <a:endParaRPr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91933"/>
            <a:ext cx="10515600" cy="4351338"/>
          </a:xfrm>
        </p:spPr>
        <p:txBody>
          <a:bodyPr/>
          <a:lstStyle/>
          <a:p>
            <a:pPr marL="0" indent="0" algn="just">
              <a:buNone/>
            </a:pP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Management: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Hosting and managing large ~712MB model checkpoints.</a:t>
            </a:r>
          </a:p>
          <a:p>
            <a:pPr marL="0" indent="0" algn="just">
              <a:buNone/>
            </a:pP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XAI Alignment: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Normalizing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GradCAM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target layers across varied CNN base architectures (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ResNet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vs.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EfficientNet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0" indent="0" algn="just">
              <a:buNone/>
            </a:pP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Interface: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Generating unified, responsive overlay images dynamically on the backend.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2ADEC1-41B3-1E4A-8E68-8F53785265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Major Project Review-II - 16th March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7E23EF-4429-99B6-D9A8-E04FE9E61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C1FF6DA9-008F-8B48-92A6-B652298478BF}" type="slidenum">
              <a:rPr lang="en-US" smtClean="0"/>
              <a:t>17</a:t>
            </a:fld>
            <a:endParaRPr lang="en-US"/>
          </a:p>
        </p:txBody>
      </p:sp>
      <p:pic>
        <p:nvPicPr>
          <p:cNvPr id="4" name="Google Shape;90;p1">
            <a:extLst>
              <a:ext uri="{FF2B5EF4-FFF2-40B4-BE49-F238E27FC236}">
                <a16:creationId xmlns:a16="http://schemas.microsoft.com/office/drawing/2014/main" id="{FD91A46D-E09C-03D4-2772-AAAEF1EF485A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44451"/>
            <a:ext cx="2210765" cy="7550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3018"/>
            <a:ext cx="12192000" cy="1325563"/>
          </a:xfrm>
        </p:spPr>
        <p:txBody>
          <a:bodyPr/>
          <a:lstStyle/>
          <a:p>
            <a:pPr algn="ctr"/>
            <a:r>
              <a:rPr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46519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Achieved an enterprise-grade, high-accuracy deepfake detection platform.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Introduced a novel dual-layer XAI approach (Visual Heatmaps + LLM Text Reasoning).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Eliminated the 'black-box' problem, paving the way for verifiable media forensics.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27DACE-474F-7CCC-B683-5E349E74B9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Major Project Review-II - 16th March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A06FCA-20B7-AA33-B8CE-E4DD0CA99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C1FF6DA9-008F-8B48-92A6-B652298478BF}" type="slidenum">
              <a:rPr lang="en-US" smtClean="0"/>
              <a:t>18</a:t>
            </a:fld>
            <a:endParaRPr lang="en-US"/>
          </a:p>
        </p:txBody>
      </p:sp>
      <p:pic>
        <p:nvPicPr>
          <p:cNvPr id="4" name="Google Shape;90;p1">
            <a:extLst>
              <a:ext uri="{FF2B5EF4-FFF2-40B4-BE49-F238E27FC236}">
                <a16:creationId xmlns:a16="http://schemas.microsoft.com/office/drawing/2014/main" id="{C73E790E-6CC8-F106-1BA3-97A7462639E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44451"/>
            <a:ext cx="2210765" cy="7550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343818"/>
          </a:xfrm>
        </p:spPr>
        <p:txBody>
          <a:bodyPr/>
          <a:lstStyle/>
          <a:p>
            <a:pPr algn="ctr"/>
            <a:r>
              <a:rPr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88269"/>
            <a:ext cx="10515600" cy="4351338"/>
          </a:xfrm>
        </p:spPr>
        <p:txBody>
          <a:bodyPr>
            <a:normAutofit fontScale="92500"/>
          </a:bodyPr>
          <a:lstStyle/>
          <a:p>
            <a:pPr marL="857250" indent="-742950" algn="just">
              <a:buFont typeface="+mj-lt"/>
              <a:buAutoNum type="arabicPeriod"/>
            </a:pP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Afchar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D., Nozick, V., Yamagishi, J., &amp; Echizen, I.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MesoNet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 Compact Facial Video Forgery Detection Network. IEEE WIFS, 2018</a:t>
            </a:r>
          </a:p>
          <a:p>
            <a:pPr marL="857250" indent="-742950" algn="just">
              <a:buFont typeface="+mj-lt"/>
              <a:buAutoNum type="arabicPeriod"/>
            </a:pP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Rossler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A., et al.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FaceForensics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++: Learning to Detect Manipulated Facial Images. ICCV, 2019</a:t>
            </a:r>
          </a:p>
          <a:p>
            <a:pPr marL="857250" indent="-742950" algn="just">
              <a:buFont typeface="+mj-lt"/>
              <a:buAutoNum type="arabicPeriod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Chollet, F.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Xception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Deep Learning with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Depthwise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Separable Convolutions. CVPR, 2017</a:t>
            </a:r>
          </a:p>
          <a:p>
            <a:pPr marL="857250" indent="-742950" algn="just">
              <a:buFont typeface="+mj-lt"/>
              <a:buAutoNum type="arabicPeriod"/>
            </a:pP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Selvaraju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R. R., et al. Grad-CAM: Visual Explanations from Deep Networks. ICCV, 2017</a:t>
            </a:r>
          </a:p>
          <a:p>
            <a:pPr marL="857250" indent="-742950" algn="just">
              <a:buFont typeface="+mj-lt"/>
              <a:buAutoNum type="arabicPeriod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Goodfellow, I., Bengio, Y., &amp; Courville, A. Deep Learning. MIT Press, 2016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4231CD-5D8E-C1BA-15C6-EE3E5EADA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Major Project Review-II - 16th March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3DA4F3-FB44-B652-8BA7-D1D223687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C1FF6DA9-008F-8B48-92A6-B652298478BF}" type="slidenum">
              <a:rPr lang="en-US" smtClean="0"/>
              <a:t>19</a:t>
            </a:fld>
            <a:endParaRPr lang="en-US"/>
          </a:p>
        </p:txBody>
      </p:sp>
      <p:pic>
        <p:nvPicPr>
          <p:cNvPr id="4" name="Google Shape;90;p1">
            <a:extLst>
              <a:ext uri="{FF2B5EF4-FFF2-40B4-BE49-F238E27FC236}">
                <a16:creationId xmlns:a16="http://schemas.microsoft.com/office/drawing/2014/main" id="{48E3FF31-24E0-ECF0-CAA6-731C8967D51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44451"/>
            <a:ext cx="2210765" cy="7550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7443" y="2569709"/>
            <a:ext cx="5733327" cy="1718581"/>
          </a:xfrm>
        </p:spPr>
        <p:txBody>
          <a:bodyPr>
            <a:normAutofit fontScale="90000"/>
          </a:bodyPr>
          <a:lstStyle/>
          <a:p>
            <a:r>
              <a:rPr sz="96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434DD8-DD99-81D1-54F2-08F71A032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Major Project Review-II - 16th March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86AE65-0013-B646-602B-BBD32F7C1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C1FF6DA9-008F-8B48-92A6-B652298478BF}" type="slidenum">
              <a:rPr lang="en-US" smtClean="0"/>
              <a:t>20</a:t>
            </a:fld>
            <a:endParaRPr lang="en-US"/>
          </a:p>
        </p:txBody>
      </p:sp>
      <p:pic>
        <p:nvPicPr>
          <p:cNvPr id="4" name="Google Shape;90;p1">
            <a:extLst>
              <a:ext uri="{FF2B5EF4-FFF2-40B4-BE49-F238E27FC236}">
                <a16:creationId xmlns:a16="http://schemas.microsoft.com/office/drawing/2014/main" id="{4C137661-8A85-F0E4-2154-26A2CDE8991B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44451"/>
            <a:ext cx="2210765" cy="7550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68</TotalTime>
  <Words>996</Words>
  <Application>Microsoft Office PowerPoint</Application>
  <PresentationFormat>Widescreen</PresentationFormat>
  <Paragraphs>138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Calibri Light</vt:lpstr>
      <vt:lpstr>Times New Roman</vt:lpstr>
      <vt:lpstr>Office Theme</vt:lpstr>
      <vt:lpstr>Deepfake Detection using Explainable AI</vt:lpstr>
      <vt:lpstr>Project Overview</vt:lpstr>
      <vt:lpstr>Problem Statement</vt:lpstr>
      <vt:lpstr>Project Objectives</vt:lpstr>
      <vt:lpstr>Literature Review</vt:lpstr>
      <vt:lpstr>System Architecture</vt:lpstr>
      <vt:lpstr>Proposed System</vt:lpstr>
      <vt:lpstr>Dataset Description</vt:lpstr>
      <vt:lpstr>Methodology</vt:lpstr>
      <vt:lpstr>Tools &amp; Technologies</vt:lpstr>
      <vt:lpstr>Modules Implemented Details</vt:lpstr>
      <vt:lpstr>Implementation Screens</vt:lpstr>
      <vt:lpstr>Experimental Results</vt:lpstr>
      <vt:lpstr>Result Discussion</vt:lpstr>
      <vt:lpstr>Work Completed So Far</vt:lpstr>
      <vt:lpstr>Publication Status</vt:lpstr>
      <vt:lpstr>Challenges Faced</vt:lpstr>
      <vt:lpstr>Conclusion</vt:lpstr>
      <vt:lpstr>References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&lt;Title of Project&gt;</dc:title>
  <dc:subject/>
  <dc:creator/>
  <cp:keywords/>
  <dc:description>generated using python-pptx</dc:description>
  <cp:lastModifiedBy>Akash Khedar</cp:lastModifiedBy>
  <cp:revision>9</cp:revision>
  <dcterms:created xsi:type="dcterms:W3CDTF">2013-01-27T09:14:16Z</dcterms:created>
  <dcterms:modified xsi:type="dcterms:W3CDTF">2026-03-16T09:18:58Z</dcterms:modified>
  <cp:category/>
</cp:coreProperties>
</file>