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70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85434"/>
                </a:solidFill>
              </a:defRPr>
            </a:pPr>
            <a:r>
              <a:t>System Architecture - Plant Disease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5669280"/>
          </a:xfrm>
          <a:prstGeom prst="rect">
            <a:avLst/>
          </a:prstGeom>
          <a:noFill/>
          <a:ln w="17780">
            <a:solidFill>
              <a:srgbClr val="5A5A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1143000" cy="685800"/>
          </a:xfrm>
          <a:prstGeom prst="roundRect">
            <a:avLst/>
          </a:prstGeom>
          <a:solidFill>
            <a:srgbClr val="E6EFF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Farmer/User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965960"/>
            <a:ext cx="1783080" cy="685800"/>
          </a:xfrm>
          <a:prstGeom prst="roundRect">
            <a:avLst/>
          </a:prstGeom>
          <a:solidFill>
            <a:srgbClr val="DDECF5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Web / Mobile</a:t>
            </a:r>
            <a:br/>
            <a:r>
              <a:t>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1828800" cy="685800"/>
          </a:xfrm>
          <a:prstGeom prst="roundRect">
            <a:avLst/>
          </a:prstGeom>
          <a:solidFill>
            <a:srgbClr val="D8E6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Inference API</a:t>
            </a:r>
            <a:br/>
            <a:r>
              <a:t>(FastAPI/Flask)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331720"/>
            <a:ext cx="2194560" cy="502920"/>
          </a:xfrm>
          <a:prstGeom prst="roundRect">
            <a:avLst/>
          </a:prstGeom>
          <a:solidFill>
            <a:srgbClr val="D4F2E5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Preprocessing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971800"/>
            <a:ext cx="960120" cy="457200"/>
          </a:xfrm>
          <a:prstGeom prst="roundRect">
            <a:avLst/>
          </a:prstGeom>
          <a:solidFill>
            <a:srgbClr val="E8F8E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41414"/>
                </a:solidFill>
              </a:defRPr>
            </a:pPr>
            <a:r>
              <a:t>Resize</a:t>
            </a:r>
            <a:br/>
            <a:r>
              <a:t>224x224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2971800"/>
            <a:ext cx="960120" cy="457200"/>
          </a:xfrm>
          <a:prstGeom prst="roundRect">
            <a:avLst/>
          </a:prstGeom>
          <a:solidFill>
            <a:srgbClr val="E8F8E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41414"/>
                </a:solidFill>
              </a:defRPr>
            </a:pPr>
            <a:r>
              <a:t>ToTensor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3611880"/>
            <a:ext cx="960120" cy="457200"/>
          </a:xfrm>
          <a:prstGeom prst="roundRect">
            <a:avLst/>
          </a:prstGeom>
          <a:solidFill>
            <a:srgbClr val="E8F8EE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41414"/>
                </a:solidFill>
              </a:defRPr>
            </a:pPr>
            <a:r>
              <a:t>Normalize</a:t>
            </a:r>
            <a:br/>
            <a:r>
              <a:t>(ImageNet)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417320"/>
            <a:ext cx="2240280" cy="1097280"/>
          </a:xfrm>
          <a:prstGeom prst="roundRect">
            <a:avLst/>
          </a:prstGeom>
          <a:solidFill>
            <a:srgbClr val="EEE1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Model Inference</a:t>
            </a:r>
            <a:br/>
            <a:r>
              <a:t>ResNet50 (Transfer Learning)</a:t>
            </a:r>
            <a:br/>
            <a:r>
              <a:t>Softmax + Top-k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40"/>
            <a:ext cx="2240280" cy="868680"/>
          </a:xfrm>
          <a:prstGeom prst="roundRect">
            <a:avLst/>
          </a:prstGeom>
          <a:solidFill>
            <a:srgbClr val="E0EBFC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Explainability Module</a:t>
            </a:r>
            <a:br/>
            <a:r>
              <a:t>Grad-CAM Heatmap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834640"/>
            <a:ext cx="1920240" cy="868680"/>
          </a:xfrm>
          <a:prstGeom prst="roundRect">
            <a:avLst/>
          </a:prstGeom>
          <a:solidFill>
            <a:srgbClr val="FFEBD6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Recommendation Engine</a:t>
            </a:r>
            <a:br/>
            <a:r>
              <a:t>prevention_tips.py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325880"/>
            <a:ext cx="1920240" cy="1280160"/>
          </a:xfrm>
          <a:prstGeom prst="roundRect">
            <a:avLst/>
          </a:prstGeom>
          <a:solidFill>
            <a:srgbClr val="FFF6CD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1414"/>
                </a:solidFill>
              </a:defRPr>
            </a:pPr>
            <a:r>
              <a:t>Response Packaging</a:t>
            </a:r>
            <a:br/>
            <a:r>
              <a:t>- Predicted class</a:t>
            </a:r>
            <a:br/>
            <a:r>
              <a:t>- Confidence</a:t>
            </a:r>
            <a:br/>
            <a:r>
              <a:t>- Top-3 classes</a:t>
            </a:r>
            <a:br/>
            <a:r>
              <a:t>- Tips text</a:t>
            </a:r>
            <a:br/>
            <a:r>
              <a:t>- Heatmap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4023360"/>
            <a:ext cx="1920240" cy="1097280"/>
          </a:xfrm>
          <a:prstGeom prst="roundRect">
            <a:avLst/>
          </a:prstGeom>
          <a:solidFill>
            <a:srgbClr val="E0F5E8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1414"/>
                </a:solidFill>
              </a:defRPr>
            </a:pPr>
            <a:r>
              <a:t>Output to User</a:t>
            </a:r>
            <a:br/>
            <a:r>
              <a:t>Diagnosis + Advice</a:t>
            </a:r>
            <a:br/>
            <a:r>
              <a:t>Visual Explanation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69080"/>
            <a:ext cx="2240280" cy="1051560"/>
          </a:xfrm>
          <a:prstGeom prst="roundRect">
            <a:avLst/>
          </a:prstGeom>
          <a:solidFill>
            <a:srgbClr val="F4EFF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41414"/>
                </a:solidFill>
              </a:defRPr>
            </a:pPr>
            <a:r>
              <a:t>Optional Evaluation</a:t>
            </a:r>
            <a:br/>
            <a:r>
              <a:t>compare_models.py</a:t>
            </a:r>
            <a:br/>
            <a:r>
              <a:t>Custom CNN vs ResNet50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58064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3737"/>
                </a:solidFill>
              </a:defRPr>
            </a:pPr>
            <a:r>
              <a:t>Online Inference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8064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3737"/>
                </a:solidFill>
              </a:defRPr>
            </a:pPr>
            <a:r>
              <a:t>Explainability + Agronomic Guidance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74519" y="2313432"/>
            <a:ext cx="274321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931920" y="1755648"/>
            <a:ext cx="411480" cy="557784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57800" y="2103120"/>
            <a:ext cx="0" cy="22860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12080" y="3200400"/>
            <a:ext cx="13716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349240" y="3429000"/>
            <a:ext cx="457200" cy="18288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60720" y="2011680"/>
            <a:ext cx="960120" cy="182880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61120" y="2011680"/>
            <a:ext cx="36576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606040"/>
            <a:ext cx="0" cy="141732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74519" y="2651760"/>
            <a:ext cx="7452361" cy="192024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18120" y="2514600"/>
            <a:ext cx="0" cy="32004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61120" y="3273552"/>
            <a:ext cx="36576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287000" y="2606040"/>
            <a:ext cx="0" cy="22860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18120" y="2514600"/>
            <a:ext cx="0" cy="155448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649224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5A5A5A"/>
                </a:solidFill>
              </a:defRPr>
            </a:pPr>
            <a:r>
              <a:t>AgriXAI architecture: upload -&gt; preprocess -&gt; ResNet50 inference -&gt; Grad-CAM -&gt; prevention tips -&gt;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